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62" r:id="rId6"/>
    <p:sldId id="261" r:id="rId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7" d="100"/>
          <a:sy n="67" d="100"/>
        </p:scale>
        <p:origin x="548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3333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3333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6F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9010650" y="5755360"/>
            <a:ext cx="2552700" cy="627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3333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6F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340733" y="2997200"/>
            <a:ext cx="3510534" cy="863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38242" y="6457677"/>
            <a:ext cx="205104" cy="17957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036" y="219760"/>
            <a:ext cx="11107927" cy="805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3333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073" y="6144259"/>
            <a:ext cx="98488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2026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9292" y="3252038"/>
            <a:ext cx="10052508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b="1" dirty="0">
                <a:solidFill>
                  <a:schemeClr val="bg1"/>
                </a:solidFill>
              </a:rPr>
              <a:t>End‑to‑End Sunny Delivery Roadmap</a:t>
            </a:r>
            <a:endParaRPr sz="440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292" y="4064000"/>
            <a:ext cx="12065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Preliminary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1DC6F92-4A00-6EEC-9211-4FD8E62E914E}"/>
              </a:ext>
            </a:extLst>
          </p:cNvPr>
          <p:cNvSpPr/>
          <p:nvPr/>
        </p:nvSpPr>
        <p:spPr>
          <a:xfrm>
            <a:off x="1371600" y="3188938"/>
            <a:ext cx="1828800" cy="1874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1FCB565-45E8-B992-2C6E-A07983562CE9}"/>
              </a:ext>
            </a:extLst>
          </p:cNvPr>
          <p:cNvSpPr/>
          <p:nvPr/>
        </p:nvSpPr>
        <p:spPr>
          <a:xfrm>
            <a:off x="3505200" y="3188939"/>
            <a:ext cx="1828800" cy="1874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E163755-4B0B-55EE-CFE9-9A2EDB2DBB80}"/>
              </a:ext>
            </a:extLst>
          </p:cNvPr>
          <p:cNvSpPr/>
          <p:nvPr/>
        </p:nvSpPr>
        <p:spPr>
          <a:xfrm>
            <a:off x="5715006" y="3188939"/>
            <a:ext cx="1828800" cy="1874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D5B9FA-3FAE-AC8E-C4AF-457BFAE4641F}"/>
              </a:ext>
            </a:extLst>
          </p:cNvPr>
          <p:cNvSpPr/>
          <p:nvPr/>
        </p:nvSpPr>
        <p:spPr>
          <a:xfrm>
            <a:off x="7850979" y="3188939"/>
            <a:ext cx="1828800" cy="1874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093408-FEC1-C652-34E2-2F538792127B}"/>
              </a:ext>
            </a:extLst>
          </p:cNvPr>
          <p:cNvSpPr/>
          <p:nvPr/>
        </p:nvSpPr>
        <p:spPr>
          <a:xfrm>
            <a:off x="10002096" y="3217486"/>
            <a:ext cx="1828800" cy="1874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85CFC-8CAF-BFC0-6E35-E2B74D834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15" y="202220"/>
            <a:ext cx="11107927" cy="461665"/>
          </a:xfrm>
        </p:spPr>
        <p:txBody>
          <a:bodyPr/>
          <a:lstStyle/>
          <a:p>
            <a:r>
              <a:rPr lang="en-US" sz="3000" b="1" dirty="0"/>
              <a:t>End‑to‑End Sunny Delivery Roadmap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EA9EDA-6CB0-2A86-6EB0-8CA25987C8A7}"/>
              </a:ext>
            </a:extLst>
          </p:cNvPr>
          <p:cNvSpPr/>
          <p:nvPr/>
        </p:nvSpPr>
        <p:spPr>
          <a:xfrm>
            <a:off x="1371600" y="1569720"/>
            <a:ext cx="1828800" cy="64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Phase 1: Foundation and Environment Setup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20673A-BC4B-6686-54F5-D26BDD056929}"/>
              </a:ext>
            </a:extLst>
          </p:cNvPr>
          <p:cNvSpPr/>
          <p:nvPr/>
        </p:nvSpPr>
        <p:spPr>
          <a:xfrm>
            <a:off x="3531393" y="1569720"/>
            <a:ext cx="1828800" cy="64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Phase 2: AI and Voice Integration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49CFF2-3091-8BEC-EB6C-49444DD7E880}"/>
              </a:ext>
            </a:extLst>
          </p:cNvPr>
          <p:cNvSpPr/>
          <p:nvPr/>
        </p:nvSpPr>
        <p:spPr>
          <a:xfrm>
            <a:off x="5691186" y="1569720"/>
            <a:ext cx="1828800" cy="64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Phase 3: Lip Sync and Engine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DB548E-9573-DF63-E332-393A7908773B}"/>
              </a:ext>
            </a:extLst>
          </p:cNvPr>
          <p:cNvSpPr txBox="1"/>
          <p:nvPr/>
        </p:nvSpPr>
        <p:spPr>
          <a:xfrm>
            <a:off x="1825961" y="1231485"/>
            <a:ext cx="942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Week 1,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FDEE29-AEE1-CBF4-9B27-E7DF9AF01574}"/>
              </a:ext>
            </a:extLst>
          </p:cNvPr>
          <p:cNvSpPr txBox="1"/>
          <p:nvPr/>
        </p:nvSpPr>
        <p:spPr>
          <a:xfrm>
            <a:off x="4038600" y="1231485"/>
            <a:ext cx="7791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Week 3</a:t>
            </a:r>
          </a:p>
          <a:p>
            <a:endParaRPr lang="en-US" sz="1400" b="1" dirty="0">
              <a:solidFill>
                <a:schemeClr val="accent6"/>
              </a:solidFill>
              <a:latin typeface="Scotia" panose="020B0503020203020204" pitchFamily="34" charset="0"/>
              <a:ea typeface="Scotia" panose="020B05030202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6CA576-2288-1B3D-6E9D-C7D3008BDA8E}"/>
              </a:ext>
            </a:extLst>
          </p:cNvPr>
          <p:cNvSpPr txBox="1"/>
          <p:nvPr/>
        </p:nvSpPr>
        <p:spPr>
          <a:xfrm>
            <a:off x="6225310" y="1231485"/>
            <a:ext cx="7887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Week 4</a:t>
            </a:r>
          </a:p>
          <a:p>
            <a:endParaRPr lang="en-US" sz="1400" b="1" dirty="0">
              <a:solidFill>
                <a:schemeClr val="accent6"/>
              </a:solidFill>
              <a:latin typeface="Scotia" panose="020B0503020203020204" pitchFamily="34" charset="0"/>
              <a:ea typeface="Scotia" panose="020B05030202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B1506E-41A9-57D3-6F50-3DB71E7E3B2A}"/>
              </a:ext>
            </a:extLst>
          </p:cNvPr>
          <p:cNvSpPr txBox="1"/>
          <p:nvPr/>
        </p:nvSpPr>
        <p:spPr>
          <a:xfrm>
            <a:off x="1371600" y="3188940"/>
            <a:ext cx="1828800" cy="1071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Finalize Avatar Assets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Establish Google Cloud Foundation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Define High‑Level Architecture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D57D07-8F7F-C734-DE71-085C58217FC1}"/>
              </a:ext>
            </a:extLst>
          </p:cNvPr>
          <p:cNvSpPr/>
          <p:nvPr/>
        </p:nvSpPr>
        <p:spPr>
          <a:xfrm>
            <a:off x="1371600" y="2362200"/>
            <a:ext cx="1828800" cy="618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tx1"/>
                </a:solidFill>
                <a:latin typeface="+mj-lt"/>
                <a:ea typeface="Scotia" panose="020B0503020203020204" pitchFamily="34" charset="0"/>
              </a:rPr>
              <a:t>GCP backend skeleton live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tx1"/>
                </a:solidFill>
                <a:latin typeface="+mj-lt"/>
                <a:ea typeface="Scotia" panose="020B0503020203020204" pitchFamily="34" charset="0"/>
              </a:rPr>
              <a:t>Animation‑ready avatar assets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549B2A-D20F-C16F-DD78-EBF2F39B35C5}"/>
              </a:ext>
            </a:extLst>
          </p:cNvPr>
          <p:cNvSpPr txBox="1"/>
          <p:nvPr/>
        </p:nvSpPr>
        <p:spPr>
          <a:xfrm>
            <a:off x="76200" y="1686580"/>
            <a:ext cx="699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Phase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3B8191-4460-DD65-A2C7-D0C1EE14E899}"/>
              </a:ext>
            </a:extLst>
          </p:cNvPr>
          <p:cNvSpPr txBox="1"/>
          <p:nvPr/>
        </p:nvSpPr>
        <p:spPr>
          <a:xfrm>
            <a:off x="76200" y="2448580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Deliverable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E14DAF-B591-2046-CA4B-974674D425F9}"/>
              </a:ext>
            </a:extLst>
          </p:cNvPr>
          <p:cNvSpPr txBox="1"/>
          <p:nvPr/>
        </p:nvSpPr>
        <p:spPr>
          <a:xfrm>
            <a:off x="76200" y="3210580"/>
            <a:ext cx="9268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Key </a:t>
            </a:r>
          </a:p>
          <a:p>
            <a:r>
              <a:rPr lang="en-US" sz="1400" i="1" dirty="0"/>
              <a:t>Activities 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1D66C5-3E35-91BE-09A3-043C9FE2B09C}"/>
              </a:ext>
            </a:extLst>
          </p:cNvPr>
          <p:cNvSpPr txBox="1"/>
          <p:nvPr/>
        </p:nvSpPr>
        <p:spPr>
          <a:xfrm>
            <a:off x="3518158" y="3188938"/>
            <a:ext cx="1828800" cy="147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Integrate Vertex AI (Gemini)</a:t>
            </a:r>
            <a:r>
              <a:rPr lang="en-US" sz="1000" baseline="30000" dirty="0"/>
              <a:t>1</a:t>
            </a:r>
            <a:r>
              <a:rPr lang="en-US" sz="1000" dirty="0"/>
              <a:t> for response generation</a:t>
            </a:r>
          </a:p>
          <a:p>
            <a:pPr marL="228600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Configure prompt framework </a:t>
            </a:r>
          </a:p>
          <a:p>
            <a:pPr marL="228600" indent="-2286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Integrate text‑to‑speech for audio generation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B16F5D-E5D2-AD82-967D-A49CD4A2F67E}"/>
              </a:ext>
            </a:extLst>
          </p:cNvPr>
          <p:cNvSpPr/>
          <p:nvPr/>
        </p:nvSpPr>
        <p:spPr>
          <a:xfrm>
            <a:off x="3531393" y="2362200"/>
            <a:ext cx="1828800" cy="618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tx1"/>
                </a:solidFill>
                <a:latin typeface="+mj-lt"/>
                <a:ea typeface="Scotia" panose="020B0503020203020204" pitchFamily="34" charset="0"/>
              </a:rPr>
              <a:t>End‑to‑end pipeline generating spoken responses from user input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1E1E12-5B46-6B3C-3B06-3340709C9756}"/>
              </a:ext>
            </a:extLst>
          </p:cNvPr>
          <p:cNvSpPr txBox="1"/>
          <p:nvPr/>
        </p:nvSpPr>
        <p:spPr>
          <a:xfrm>
            <a:off x="5715006" y="3197899"/>
            <a:ext cx="1828800" cy="147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Integrate Rhubarb</a:t>
            </a:r>
            <a:r>
              <a:rPr lang="en-US" sz="1000" baseline="30000" dirty="0"/>
              <a:t>2</a:t>
            </a:r>
            <a:r>
              <a:rPr lang="en-US" sz="1000" dirty="0"/>
              <a:t> Lip Sync into containerized backend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Process audio output into viseme</a:t>
            </a:r>
            <a:r>
              <a:rPr lang="en-US" sz="1000" baseline="30000" dirty="0"/>
              <a:t>3</a:t>
            </a:r>
            <a:r>
              <a:rPr lang="en-US" sz="1000" dirty="0"/>
              <a:t> timing data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Extend APIs to return synced audio and viseme signals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4D4D02-3718-4808-90F4-2A316B02D1BA}"/>
              </a:ext>
            </a:extLst>
          </p:cNvPr>
          <p:cNvSpPr/>
          <p:nvPr/>
        </p:nvSpPr>
        <p:spPr>
          <a:xfrm>
            <a:off x="5691186" y="2362200"/>
            <a:ext cx="1828800" cy="618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tx1"/>
                </a:solidFill>
                <a:latin typeface="+mj-lt"/>
                <a:ea typeface="Scotia" panose="020B0503020203020204" pitchFamily="34" charset="0"/>
              </a:rPr>
              <a:t>Backend capable of producing synchronized speech and animation data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469F978-86E0-09C5-AB21-8F8197DC6192}"/>
              </a:ext>
            </a:extLst>
          </p:cNvPr>
          <p:cNvCxnSpPr>
            <a:cxnSpLocks/>
          </p:cNvCxnSpPr>
          <p:nvPr/>
        </p:nvCxnSpPr>
        <p:spPr>
          <a:xfrm>
            <a:off x="1143000" y="1569720"/>
            <a:ext cx="7777" cy="2531924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4DABB87-0603-2AD8-422E-89599363A163}"/>
              </a:ext>
            </a:extLst>
          </p:cNvPr>
          <p:cNvSpPr/>
          <p:nvPr/>
        </p:nvSpPr>
        <p:spPr>
          <a:xfrm>
            <a:off x="7850979" y="1569720"/>
            <a:ext cx="1828800" cy="64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Phase 4: Frontend Avatar Rendering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A62FB0-DBB3-D8E9-CA7F-870DD7480B5C}"/>
              </a:ext>
            </a:extLst>
          </p:cNvPr>
          <p:cNvSpPr/>
          <p:nvPr/>
        </p:nvSpPr>
        <p:spPr>
          <a:xfrm>
            <a:off x="10010774" y="1569720"/>
            <a:ext cx="1828800" cy="640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Phase 5: Polish, Demo Readiness and Performance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C232F2-A692-CC63-078A-D89F66B02BCF}"/>
              </a:ext>
            </a:extLst>
          </p:cNvPr>
          <p:cNvSpPr txBox="1"/>
          <p:nvPr/>
        </p:nvSpPr>
        <p:spPr>
          <a:xfrm>
            <a:off x="8296498" y="1231485"/>
            <a:ext cx="965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Week 5, 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B1F974-A5EA-AF5A-B62F-7655A98DE641}"/>
              </a:ext>
            </a:extLst>
          </p:cNvPr>
          <p:cNvSpPr txBox="1"/>
          <p:nvPr/>
        </p:nvSpPr>
        <p:spPr>
          <a:xfrm>
            <a:off x="10439400" y="1231485"/>
            <a:ext cx="945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6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Week 7, 8</a:t>
            </a:r>
          </a:p>
          <a:p>
            <a:endParaRPr lang="en-US" sz="1400" b="1" dirty="0">
              <a:solidFill>
                <a:schemeClr val="accent6"/>
              </a:solidFill>
              <a:latin typeface="Scotia" panose="020B0503020203020204" pitchFamily="34" charset="0"/>
              <a:ea typeface="Scotia" panose="020B0503020203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9D05AB-4DD3-A10B-7D9E-AA6AED55E2A8}"/>
              </a:ext>
            </a:extLst>
          </p:cNvPr>
          <p:cNvSpPr txBox="1"/>
          <p:nvPr/>
        </p:nvSpPr>
        <p:spPr>
          <a:xfrm>
            <a:off x="7890441" y="3270852"/>
            <a:ext cx="182880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Build React/Next.js</a:t>
            </a:r>
            <a:r>
              <a:rPr lang="en-US" sz="1000" baseline="30000" dirty="0"/>
              <a:t>4</a:t>
            </a:r>
            <a:r>
              <a:rPr lang="en-US" sz="1000" dirty="0"/>
              <a:t> talking‑head component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Implement audio playback and real‑time viseme‑driven mouth animation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Add animation smoothing for natural movement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DF469D-8866-6C2D-D58B-1C8FF0FA523B}"/>
              </a:ext>
            </a:extLst>
          </p:cNvPr>
          <p:cNvSpPr/>
          <p:nvPr/>
        </p:nvSpPr>
        <p:spPr>
          <a:xfrm>
            <a:off x="7850979" y="2362200"/>
            <a:ext cx="1828800" cy="618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tx1"/>
                </a:solidFill>
                <a:latin typeface="+mj-lt"/>
                <a:ea typeface="Scotia" panose="020B0503020203020204" pitchFamily="34" charset="0"/>
              </a:rPr>
              <a:t>Fully functional talking‑avatar interface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8008CF-9BBF-512F-267B-B6164FD30372}"/>
              </a:ext>
            </a:extLst>
          </p:cNvPr>
          <p:cNvSpPr txBox="1"/>
          <p:nvPr/>
        </p:nvSpPr>
        <p:spPr>
          <a:xfrm>
            <a:off x="10020626" y="3265677"/>
            <a:ext cx="1828800" cy="167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Add idle behaviors (blinking, subtle head motion)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Improve perceived latency Optimize Cloud Run performance and reduce cold starts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Conduct performance testing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BB08E26-EFDA-4FFE-0054-A5CC7A150D21}"/>
              </a:ext>
            </a:extLst>
          </p:cNvPr>
          <p:cNvSpPr/>
          <p:nvPr/>
        </p:nvSpPr>
        <p:spPr>
          <a:xfrm>
            <a:off x="10010774" y="2362200"/>
            <a:ext cx="1828800" cy="618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b="1" dirty="0">
                <a:solidFill>
                  <a:schemeClr val="tx1"/>
                </a:solidFill>
                <a:latin typeface="+mj-lt"/>
                <a:ea typeface="Scotia" panose="020B0503020203020204" pitchFamily="34" charset="0"/>
              </a:rPr>
              <a:t>Polished, demo‑ready talking avatar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838724-3605-DA50-8CEC-58AD2A9B02B8}"/>
              </a:ext>
            </a:extLst>
          </p:cNvPr>
          <p:cNvSpPr txBox="1"/>
          <p:nvPr/>
        </p:nvSpPr>
        <p:spPr>
          <a:xfrm rot="16200000">
            <a:off x="9147008" y="3057127"/>
            <a:ext cx="13965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latin typeface="Scotia" panose="020B0503020203020204" pitchFamily="34" charset="0"/>
                <a:ea typeface="Scotia" panose="020B0503020203020204" pitchFamily="34" charset="0"/>
              </a:rPr>
              <a:t>EXECUTIVE DEMO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54A8F0A-094B-CCBC-D3AC-5617C3888F8D}"/>
              </a:ext>
            </a:extLst>
          </p:cNvPr>
          <p:cNvSpPr/>
          <p:nvPr/>
        </p:nvSpPr>
        <p:spPr>
          <a:xfrm>
            <a:off x="2286000" y="5292388"/>
            <a:ext cx="8319549" cy="6400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Scotia" panose="020B0503020203020204" pitchFamily="34" charset="0"/>
                <a:ea typeface="Scotia" panose="020B0503020203020204" pitchFamily="34" charset="0"/>
              </a:rPr>
              <a:t>Governance &amp; Controls (Run in Parallel)</a:t>
            </a:r>
            <a:endParaRPr lang="en-US" sz="1100" dirty="0">
              <a:solidFill>
                <a:schemeClr val="tx1"/>
              </a:solidFill>
              <a:latin typeface="Scotia" panose="020B0503020203020204" pitchFamily="34" charset="0"/>
              <a:ea typeface="Scotia" panose="020B0503020203020204" pitchFamily="34" charset="0"/>
            </a:endParaRP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Technology development will proceed alongside NIRA, TSR, and AI Council reviews to ensure risk alignment, delivery confidence, and readiness to scale.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1EC754-174C-D2B6-9B77-D71F99A76813}"/>
              </a:ext>
            </a:extLst>
          </p:cNvPr>
          <p:cNvSpPr txBox="1"/>
          <p:nvPr/>
        </p:nvSpPr>
        <p:spPr>
          <a:xfrm>
            <a:off x="76200" y="6172200"/>
            <a:ext cx="707597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AutoNum type="arabicPeriod"/>
            </a:pPr>
            <a:r>
              <a:rPr lang="en-US" sz="900" dirty="0"/>
              <a:t>Vertex AI is a fully-managed, unified AI development platform for building and using generative AI</a:t>
            </a:r>
          </a:p>
          <a:p>
            <a:pPr marL="228600" indent="-228600">
              <a:buAutoNum type="arabicPeriod"/>
            </a:pPr>
            <a:r>
              <a:rPr lang="en-US" sz="900" dirty="0"/>
              <a:t>Rhubarb Lip Sync is a free and open-source tool that automatically creates 2D mouth animation from voice recordings</a:t>
            </a:r>
          </a:p>
          <a:p>
            <a:pPr marL="228600" indent="-228600">
              <a:buAutoNum type="arabicPeriod"/>
            </a:pPr>
            <a:r>
              <a:rPr lang="en-US" sz="900" dirty="0"/>
              <a:t>Visemes are the visual, mouth-shape counterparts to phonetic sounds (phonemes) used to synchronize 2D/3D character animation with audio</a:t>
            </a:r>
          </a:p>
          <a:p>
            <a:pPr marL="228600" indent="-228600">
              <a:buAutoNum type="arabicPeriod"/>
            </a:pPr>
            <a:r>
              <a:rPr lang="en-US" sz="900" dirty="0"/>
              <a:t>UI and open-source full-stack web development framework </a:t>
            </a:r>
          </a:p>
          <a:p>
            <a:pPr marL="228600" indent="-228600">
              <a:buAutoNum type="arabicPeriod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96872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08FCB3B73F5F438F47726A84BDE06F" ma:contentTypeVersion="11" ma:contentTypeDescription="Create a new document." ma:contentTypeScope="" ma:versionID="1a93c6eb9adaba4aa572505789c41402">
  <xsd:schema xmlns:xsd="http://www.w3.org/2001/XMLSchema" xmlns:xs="http://www.w3.org/2001/XMLSchema" xmlns:p="http://schemas.microsoft.com/office/2006/metadata/properties" xmlns:ns3="6d5a8dc2-77ab-45f7-bebf-5e4cd0ce3f17" targetNamespace="http://schemas.microsoft.com/office/2006/metadata/properties" ma:root="true" ma:fieldsID="38bfb581bbd18570abef41f03bfc6c98" ns3:_="">
    <xsd:import namespace="6d5a8dc2-77ab-45f7-bebf-5e4cd0ce3f1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5a8dc2-77ab-45f7-bebf-5e4cd0ce3f1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d5a8dc2-77ab-45f7-bebf-5e4cd0ce3f17" xsi:nil="true"/>
  </documentManagement>
</p:properties>
</file>

<file path=customXml/itemProps1.xml><?xml version="1.0" encoding="utf-8"?>
<ds:datastoreItem xmlns:ds="http://schemas.openxmlformats.org/officeDocument/2006/customXml" ds:itemID="{2940F26C-BED2-461E-BD75-3E575B100A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662205-387A-47B0-98D4-2DEE794593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5a8dc2-77ab-45f7-bebf-5e4cd0ce3f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0EB7FF-0911-400A-8440-F3E6F4C0AB42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6d5a8dc2-77ab-45f7-bebf-5e4cd0ce3f17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Words>327</Words>
  <Application>Microsoft Office PowerPoint</Application>
  <PresentationFormat>Widescreen</PresentationFormat>
  <Paragraphs>46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End‑to‑End Sunny Delivery Roadmap</vt:lpstr>
      <vt:lpstr>End‑to‑End Sunny Delivery Roadmap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Maksim Vishnevskii</dc:creator>
  <cp:lastModifiedBy>Nayyar, Meghaa</cp:lastModifiedBy>
  <cp:revision>6</cp:revision>
  <dcterms:created xsi:type="dcterms:W3CDTF">2026-03-18T19:59:20Z</dcterms:created>
  <dcterms:modified xsi:type="dcterms:W3CDTF">2026-04-14T16:59:46Z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2026-03-18T00:00:00Z</vt:filetime>
  </property>
  <property fmtid="{D5CDD505-2E9C-101B-9397-08002B2CF9AE}" pid="5" name="ContentTypeId">
    <vt:lpwstr>0x0101008A08FCB3B73F5F438F47726A84BDE06F</vt:lpwstr>
  </property>
</Properties>
</file>